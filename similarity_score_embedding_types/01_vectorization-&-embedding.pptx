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472434-5CC8-4C8B-B7E3-14F79C5BD473}">
  <a:tblStyle styleId="{16472434-5CC8-4C8B-B7E3-14F79C5BD4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40619c7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40619c7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0619c7a1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40619c7a1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40619c7a1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40619c7a1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40619c7a1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40619c7a1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0619c7a1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0619c7a1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40619c7a1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40619c7a1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40619c7a1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40619c7a1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40619c7a1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40619c7a1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40619c7a1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40619c7a1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40619c7a1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40619c7a1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47006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latin typeface="Times New Roman"/>
                <a:ea typeface="Times New Roman"/>
                <a:cs typeface="Times New Roman"/>
                <a:sym typeface="Times New Roman"/>
              </a:rPr>
              <a:t>Comparing Two Sentences And Finding Their Matching Score Using Embedding Techniques</a:t>
            </a:r>
            <a:endParaRPr sz="37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20"/>
              <a:t>Feature Extraction = Text </a:t>
            </a:r>
            <a:r>
              <a:rPr b="1" lang="en" sz="1720"/>
              <a:t>Representation = Text Extraction = Text Vectorization </a:t>
            </a:r>
            <a:endParaRPr b="1" sz="1720"/>
          </a:p>
        </p:txBody>
      </p:sp>
      <p:sp>
        <p:nvSpPr>
          <p:cNvPr id="62" name="Google Shape;62;p14"/>
          <p:cNvSpPr txBox="1"/>
          <p:nvPr/>
        </p:nvSpPr>
        <p:spPr>
          <a:xfrm>
            <a:off x="3000583" y="1021361"/>
            <a:ext cx="24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Vectorization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493608" y="2013711"/>
            <a:ext cx="24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Basic </a:t>
            </a:r>
            <a:r>
              <a:rPr lang="en" sz="1800">
                <a:solidFill>
                  <a:schemeClr val="dk2"/>
                </a:solidFill>
              </a:rPr>
              <a:t>Vectorization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(Count/Frequency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Based)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4" name="Google Shape;64;p14"/>
          <p:cNvCxnSpPr>
            <a:stCxn id="62" idx="2"/>
            <a:endCxn id="63" idx="0"/>
          </p:cNvCxnSpPr>
          <p:nvPr/>
        </p:nvCxnSpPr>
        <p:spPr>
          <a:xfrm flipH="1">
            <a:off x="2734783" y="1594061"/>
            <a:ext cx="15069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4"/>
          <p:cNvSpPr txBox="1"/>
          <p:nvPr/>
        </p:nvSpPr>
        <p:spPr>
          <a:xfrm>
            <a:off x="4637733" y="2013711"/>
            <a:ext cx="24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Word Embedding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(Semantic Based)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6" name="Google Shape;66;p14"/>
          <p:cNvCxnSpPr>
            <a:stCxn id="62" idx="2"/>
            <a:endCxn id="65" idx="0"/>
          </p:cNvCxnSpPr>
          <p:nvPr/>
        </p:nvCxnSpPr>
        <p:spPr>
          <a:xfrm>
            <a:off x="4241683" y="1594061"/>
            <a:ext cx="16371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4"/>
          <p:cNvSpPr txBox="1"/>
          <p:nvPr/>
        </p:nvSpPr>
        <p:spPr>
          <a:xfrm>
            <a:off x="1899426" y="2910261"/>
            <a:ext cx="2093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OHE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801101" y="3449610"/>
            <a:ext cx="2093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2.  Bag of words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899426" y="4001073"/>
            <a:ext cx="2093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3.   N grams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847026" y="4543098"/>
            <a:ext cx="2093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4.   TF-IDF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986933" y="2953386"/>
            <a:ext cx="2093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Word2vec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897890" y="3526695"/>
            <a:ext cx="48879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2.   </a:t>
            </a:r>
            <a:r>
              <a:rPr lang="en" sz="1800">
                <a:solidFill>
                  <a:schemeClr val="dk2"/>
                </a:solidFill>
              </a:rPr>
              <a:t>LLM based-BERT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TERMS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CORPUS :  large </a:t>
            </a:r>
            <a:r>
              <a:rPr lang="en" sz="1700"/>
              <a:t>collection</a:t>
            </a:r>
            <a:r>
              <a:rPr lang="en" sz="1700"/>
              <a:t> of text data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VOCABULARY : vocabulary set of all unique documents in the Corpus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DOCUMENT : one single piece of text inside corpus.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WORD :a word is the smallest </a:t>
            </a:r>
            <a:r>
              <a:rPr lang="en" sz="1700"/>
              <a:t>meaningful</a:t>
            </a:r>
            <a:r>
              <a:rPr lang="en" sz="1700"/>
              <a:t> unit 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For ex :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Corpus = [ ‘I </a:t>
            </a:r>
            <a:r>
              <a:rPr lang="en" sz="1700"/>
              <a:t>love</a:t>
            </a:r>
            <a:r>
              <a:rPr lang="en" sz="1700"/>
              <a:t> NLP’  ,  ‘NLP is fun’ ]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Vocabulary = [I , love , NLP , is , fun]</a:t>
            </a:r>
            <a:endParaRPr sz="1700"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OHE (ONE HOT ENCODING)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For ex :   Corpus = [ ‘I love NLP’  ,  ‘NLP is fun’ ]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Vocabulary = [I , love , NLP , is , fun]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V = 5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graphicFrame>
        <p:nvGraphicFramePr>
          <p:cNvPr id="89" name="Google Shape;89;p16"/>
          <p:cNvGraphicFramePr/>
          <p:nvPr/>
        </p:nvGraphicFramePr>
        <p:xfrm>
          <a:off x="1329975" y="243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{16472434-5CC8-4C8B-B7E3-14F79C5BD473}</a:tableStyleId>
              </a:tblPr>
              <a:tblGrid>
                <a:gridCol w="1041350"/>
                <a:gridCol w="1041350"/>
                <a:gridCol w="1041350"/>
                <a:gridCol w="1041350"/>
                <a:gridCol w="1041350"/>
                <a:gridCol w="1041350"/>
              </a:tblGrid>
              <a:tr h="31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Love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NLP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Love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NLP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 OF WORD (B.O.W)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, ignore grammar , word order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ex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“This is a very good Marks”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“This is not very good </a:t>
            </a:r>
            <a:r>
              <a:rPr lang="en"/>
              <a:t>Marks”</a:t>
            </a:r>
            <a:r>
              <a:rPr lang="en"/>
              <a:t> </a:t>
            </a:r>
            <a:endParaRPr/>
          </a:p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N GRAMS 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Bi- gram , tri -gram and so on -&gt; called N-gram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sentence =  ‘ People watch Youtube on Mobile 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Bi-gram = ‘people watch’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Tri-gram = ‘people watch youtube’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</a:t>
            </a:r>
            <a:r>
              <a:rPr lang="en"/>
              <a:t>nd so on.</a:t>
            </a:r>
            <a:endParaRPr/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37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TF-IDF (TERM-FREQUENCY - INVERSE DOCUMENT FREQUENCY)</a:t>
            </a:r>
            <a:endParaRPr sz="202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 -IDF score = TF * IDF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TF - measure how often term appears in document (always between 0&lt;tf&lt;1 )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IDF - measures how important or rare a terms in across all docs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ex : t= watch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Mostly used in info retrieval technique like search engine</a:t>
            </a:r>
            <a:endParaRPr/>
          </a:p>
        </p:txBody>
      </p:sp>
      <p:graphicFrame>
        <p:nvGraphicFramePr>
          <p:cNvPr id="114" name="Google Shape;114;p19"/>
          <p:cNvGraphicFramePr/>
          <p:nvPr/>
        </p:nvGraphicFramePr>
        <p:xfrm>
          <a:off x="1910500" y="247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{16472434-5CC8-4C8B-B7E3-14F79C5BD473}</a:tableStyleId>
              </a:tblPr>
              <a:tblGrid>
                <a:gridCol w="681600"/>
                <a:gridCol w="260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Doc 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People watch Youtube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Doc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Youtube watch Youtube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Doc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People </a:t>
                      </a:r>
                      <a:r>
                        <a:rPr lang="en"/>
                        <a:t>write</a:t>
                      </a:r>
                      <a:r>
                        <a:rPr lang="en"/>
                        <a:t> comment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Doc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Youtube write comment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embedding Techniques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181500" y="3003400"/>
            <a:ext cx="47304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Frequency Based  != Word embedding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Frequency based = Basic Vectorization 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Word Embedding = semantic based dense vectors</a:t>
            </a:r>
            <a:endParaRPr sz="1600"/>
          </a:p>
        </p:txBody>
      </p:sp>
      <p:sp>
        <p:nvSpPr>
          <p:cNvPr id="123" name="Google Shape;123;p20"/>
          <p:cNvSpPr txBox="1"/>
          <p:nvPr/>
        </p:nvSpPr>
        <p:spPr>
          <a:xfrm>
            <a:off x="3000583" y="1114372"/>
            <a:ext cx="24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Vectorization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493608" y="2106722"/>
            <a:ext cx="24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Basic Vectorization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(Count/Frequency Based)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25" name="Google Shape;125;p20"/>
          <p:cNvCxnSpPr>
            <a:stCxn id="123" idx="2"/>
            <a:endCxn id="124" idx="0"/>
          </p:cNvCxnSpPr>
          <p:nvPr/>
        </p:nvCxnSpPr>
        <p:spPr>
          <a:xfrm flipH="1">
            <a:off x="2734783" y="1687072"/>
            <a:ext cx="15069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0"/>
          <p:cNvSpPr txBox="1"/>
          <p:nvPr/>
        </p:nvSpPr>
        <p:spPr>
          <a:xfrm>
            <a:off x="4637733" y="2106722"/>
            <a:ext cx="24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Word Embedding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(Semantic Based)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27" name="Google Shape;127;p20"/>
          <p:cNvCxnSpPr>
            <a:stCxn id="123" idx="2"/>
            <a:endCxn id="126" idx="0"/>
          </p:cNvCxnSpPr>
          <p:nvPr/>
        </p:nvCxnSpPr>
        <p:spPr>
          <a:xfrm>
            <a:off x="4241683" y="1687072"/>
            <a:ext cx="16371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0"/>
          <p:cNvSpPr txBox="1"/>
          <p:nvPr/>
        </p:nvSpPr>
        <p:spPr>
          <a:xfrm>
            <a:off x="4986933" y="2953386"/>
            <a:ext cx="2093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Word2vec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837501" y="3445859"/>
            <a:ext cx="57576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      2.   </a:t>
            </a:r>
            <a:r>
              <a:rPr lang="en" sz="1800">
                <a:solidFill>
                  <a:schemeClr val="dk2"/>
                </a:solidFill>
              </a:rPr>
              <a:t>LLM based- BERT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2 Vec 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1023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Embedding </a:t>
            </a:r>
            <a:r>
              <a:rPr lang="en" sz="1660"/>
              <a:t>technique</a:t>
            </a:r>
            <a:r>
              <a:rPr lang="en" sz="1660"/>
              <a:t> , dense vec , context  , sim meaning -&gt; similar vector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Diff between above techniques (ohe,bow,tf-idf,ngrams ):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1.semantic </a:t>
            </a:r>
            <a:r>
              <a:rPr lang="en" sz="1660"/>
              <a:t>meaning</a:t>
            </a:r>
            <a:r>
              <a:rPr lang="en" sz="1660"/>
              <a:t> captured (happy and joy is similar)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2. Low dim vector (computation fast )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3. Dense vector [0.5  0.9  0.8  0.7] (no sparsity not lead to overfitting)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Types of Word2vec : both are (shallow n n/w) 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/>
              <a:t> 1.CBOW (small dataset )    2.Skip Gram (large data)</a:t>
            </a:r>
            <a:endParaRPr sz="16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1660"/>
              <a:t>This is NOW replaced by contextual Model (BERT)</a:t>
            </a:r>
            <a:endParaRPr b="1" sz="1660"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based (Contextual Embedding)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Traditional (static) embedding (word2vec)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 : “bank” [ 0,12 -0.45 3.4 .. .. ..]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LLM (contextual meaning) (eg. BERT , GPT , LLama)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 : “I sat on the river bank ”  embedding similar to “shore” and “nature”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 ; “I deposited cash at the bank ” embedding similar to “finance” and “building”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magics happens in Transformer architecture: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Tokenization → Positional Encoding → Self Attention(context part) → Output Layers</a:t>
            </a:r>
            <a:endParaRPr sz="1700"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Cosine Similarity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831575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direction rather than Magnitude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3" title="cosine_similarity.png"/>
          <p:cNvPicPr preferRelativeResize="0"/>
          <p:nvPr/>
        </p:nvPicPr>
        <p:blipFill rotWithShape="1">
          <a:blip r:embed="rId3">
            <a:alphaModFix/>
          </a:blip>
          <a:srcRect b="20887" l="7521" r="13632" t="15136"/>
          <a:stretch/>
        </p:blipFill>
        <p:spPr>
          <a:xfrm>
            <a:off x="3358725" y="1520730"/>
            <a:ext cx="2027650" cy="883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23"/>
          <p:cNvGraphicFramePr/>
          <p:nvPr/>
        </p:nvGraphicFramePr>
        <p:xfrm>
          <a:off x="1026875" y="250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{16472434-5CC8-4C8B-B7E3-14F79C5BD473}</a:tableStyleId>
              </a:tblPr>
              <a:tblGrid>
                <a:gridCol w="1114675"/>
                <a:gridCol w="1522750"/>
                <a:gridCol w="2099650"/>
              </a:tblGrid>
              <a:tr h="36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 (θ)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Angle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Identical Direction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(Very similar)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Similarity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(no relation)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Opposite Direction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(very diff)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6" name="Google Shape;156;p23" title="WhatsApp Image 2025-12-30 at 1.59.10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5724" y="196050"/>
            <a:ext cx="2778444" cy="23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149875" y="141575"/>
            <a:ext cx="8910300" cy="4927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